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9A45C"/>
                </a:solidFill>
                <a:latin typeface="Calibri"/>
              </a:rPr>
              <a:t>PARTNERSHIP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Augusta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AI Powered Building Compliance and Standards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A45C"/>
                </a:solidFill>
                <a:latin typeface="Calibri"/>
              </a:rPr>
              <a:t>Presented by the Founder</a:t>
            </a:r>
          </a:p>
          <a:p>
            <a:r>
              <a:rPr sz="12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Compliance is getting harder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73152" cy="329184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Thousands of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NCC, AS/NZS, and related codes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Dense PDFs and clause hunting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Cross-references across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73152" cy="329184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Time sinks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Hours lost searching every week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Senior time spent on basics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Slow answers under project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73152" cy="329184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Risk of missing something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Wrong clearance or fire call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Costly rework and delays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Compliance exposure for the 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Every engineering firm has the same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Lost hours — practitioners burn time hunting clauses instead of designing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Higher costs — inefficiency shows up in project delivery and overhead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Compliance risk — missing a requirement can mean rework, liability, or delay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This is not a niche issue — it sits at the centre of day-to-day professional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Introducing Augusta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FFFFF"/>
                </a:solidFill>
                <a:latin typeface="Calibri"/>
              </a:rPr>
              <a:t>Ask a question in plain English — get cited answers in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Answers grounded in the selected standard or document — not a generic chatbot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Built for Australian building compliance and standards workflows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Evidence you can check — so professionals can move faster with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Show, don't tell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Calibri"/>
              </a:rPr>
              <a:t>Same questions — Augusta Search first, then ChatGPT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651760" cy="333756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solidFill>
              <a:srgbClr val="C9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9A45C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Augusta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Calibri"/>
              </a:rPr>
              <a:t>Ask a real standards question — cited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148840"/>
            <a:ext cx="2651760" cy="333756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solidFill>
              <a:srgbClr val="C9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9A45C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Augusta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Calibri"/>
              </a:rPr>
              <a:t>Second example — grounded in the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48840"/>
            <a:ext cx="26517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Ask the same question — compare the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48840"/>
            <a:ext cx="26517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63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ChatGPT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023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Second comparison — notice the difference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Questions we will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Calibri"/>
              </a:rPr>
              <a:t>Run in Augusta Search first — then the same questions in ChatGPT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137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A7A35"/>
                </a:solidFill>
                <a:latin typeface="Calibri"/>
              </a:rPr>
              <a:t>AS/NZS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"When is RCD protection required for final subcircuits?"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57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57400"/>
            <a:ext cx="73152" cy="137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402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A7A35"/>
                </a:solidFill>
                <a:latin typeface="Calibri"/>
              </a:rPr>
              <a:t>AS 1670.1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"What is the maximum spacing between smoke detectors on a flat ceiling?"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73152" cy="137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A7A35"/>
                </a:solidFill>
                <a:latin typeface="Calibri"/>
              </a:rPr>
              <a:t>NCC Volume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"What are the accessible toilet requirements for a Class 6 building?"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118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11880"/>
            <a:ext cx="73152" cy="137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794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A7A35"/>
                </a:solidFill>
                <a:latin typeface="Calibri"/>
              </a:rPr>
              <a:t>NCC Volume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"When is backflow prevention required?"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A45C"/>
                </a:solidFill>
                <a:latin typeface="Calibri"/>
              </a:rPr>
              <a:t>Bonus  ·  </a:t>
            </a:r>
            <a:r>
              <a:rPr sz="1400" b="0">
                <a:solidFill>
                  <a:srgbClr val="FFFFFF"/>
                </a:solidFill>
                <a:latin typeface="Calibri"/>
              </a:rPr>
              <a:t>"Show me every clause related to emergency lighting in a Class 9a hospital."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Who uses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Calibri"/>
              </a:rPr>
              <a:t>Built for practising engineers — discipline by discipline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73152" cy="3474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Electrical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23774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AS/NZS wiring, switchboards, cable &amp; earthing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94560"/>
            <a:ext cx="73152" cy="3474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Fire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88920"/>
            <a:ext cx="23774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Detection, suppression, egress and fire-safety codes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73152" cy="3474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Mechanical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23774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HVAC, plant, and mechanical services standards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194560"/>
            <a:ext cx="73152" cy="3474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377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Hydraulic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788920"/>
            <a:ext cx="23774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Plumbing, drainage, and hydraulic design codes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WHY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Purpose-built for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Purpose-built for standards and compliance workflows — not a general AI wrapper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Faster retrieval of relevant clauses and context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Focused on helping professionals find the right information quickly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Designed around how engineers and related professions actually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Subscription SaaS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7432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A7A35"/>
                </a:solidFill>
                <a:latin typeface="Calibri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Calibri"/>
              </a:rPr>
              <a:t>NCC + SIR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75569"/>
                </a:solidFill>
                <a:latin typeface="Calibri"/>
              </a:rPr>
              <a:t>Awareness / trial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48840"/>
            <a:ext cx="2743200" cy="338328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solidFill>
              <a:srgbClr val="C9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Professional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45C"/>
                </a:solidFill>
                <a:latin typeface="Calibri"/>
              </a:rPr>
              <a:t>$49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Calibri"/>
              </a:rPr>
              <a:t>Full disciplines + uploads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BD5E1"/>
                </a:solidFill>
                <a:latin typeface="Calibri"/>
              </a:rPr>
              <a:t>Individual practitioners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2743200" cy="338328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solidFill>
              <a:srgbClr val="C9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Company Small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45C"/>
                </a:solidFill>
                <a:latin typeface="Calibri"/>
              </a:rPr>
              <a:t>$599 /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Calibri"/>
              </a:rPr>
              <a:t>Up to 25 seats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BD5E1"/>
                </a:solidFill>
                <a:latin typeface="Calibri"/>
              </a:rPr>
              <a:t>SME firms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148840"/>
            <a:ext cx="27432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331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Company Large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834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A7A35"/>
                </a:solidFill>
                <a:latin typeface="Calibri"/>
              </a:rPr>
              <a:t>$1,099 /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Calibri"/>
              </a:rPr>
              <a:t>Up to 50 seats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75569"/>
                </a:solidFill>
                <a:latin typeface="Calibri"/>
              </a:rPr>
              <a:t>Larger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Calibri"/>
              </a:rPr>
              <a:t>Monthly plans  ·  Recurring revenue  ·  Company seats for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PRICE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Same seat count — general AI vs Augusta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Calibri"/>
              </a:rPr>
              <a:t>Indicative monthly cost for 25 and 50 seats (published list rates where available)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88136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45C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25 seats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50 seats /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06040"/>
            <a:ext cx="10881360" cy="640080"/>
          </a:xfrm>
          <a:prstGeom prst="rect">
            <a:avLst/>
          </a:prstGeom>
          <a:solidFill>
            <a:srgbClr val="0B1220"/>
          </a:solidFill>
          <a:ln>
            <a:solidFill>
              <a:srgbClr val="C9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770632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Augusta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7063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9A45C"/>
                </a:solidFill>
                <a:latin typeface="Calibri"/>
              </a:rPr>
              <a:t>$599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7063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9A45C"/>
                </a:solidFill>
                <a:latin typeface="Calibri"/>
              </a:rPr>
              <a:t>$1,099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7706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9A45C"/>
                </a:solidFill>
                <a:latin typeface="Calibri"/>
              </a:rPr>
              <a:t>Purpose-built standards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456432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ChatGPT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45643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$625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$1,250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564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$25 / seat (monthly)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77639"/>
            <a:ext cx="10881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4142231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Claude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142231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$500+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42231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$1,000+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142231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$20 / seat + usage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4828031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ChatGPT 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828031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~$1,500*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828031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Calibri"/>
              </a:rPr>
              <a:t>~$3,000*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828031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~$60 / seat · quote-only*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* ChatGPT Enterprise is quote-only (often ~$45–$75/seat; ~$60 typical) and commonly quoted with large seat minimums — so Business is the realistic peer for 25–50 seats. Claude seat fee excludes token usage.</a:t>
            </a:r>
          </a:p>
          <a:p>
            <a:r>
              <a:rPr sz="1200" b="1">
                <a:solidFill>
                  <a:srgbClr val="9A7A35"/>
                </a:solidFill>
                <a:latin typeface="Calibri"/>
              </a:rPr>
              <a:t>Augusta includes cited standards Q&amp;A for engineering teams — not a general chatbot seat.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WHY A MARKETING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Tech is built — now focus is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73152" cy="3657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What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Drive awareness in the market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Open partnerships and introductions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Build recurring revenue with firms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 credible face for industry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73152" cy="3657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220"/>
                </a:solidFill>
                <a:latin typeface="Calibri"/>
              </a:rPr>
              <a:t>What is already in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Product live and working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Subscription billing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Company seats &amp; shared docs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Referral attribution for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Augusta Search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7A35"/>
                </a:solidFill>
                <a:latin typeface="Calibri"/>
              </a:rPr>
              <a:t>WHY JOIN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220"/>
                </a:solidFill>
                <a:latin typeface="Calibri"/>
              </a:rPr>
              <a:t>Ground-floor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Early stage — shape the growth story while the market is still open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Influence positioning, partnerships, and go-to-market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Shared upside — aligned around building something valuable together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Not joining a finished company to push a finished product — joining to grow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9A45C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Your feedback, ideas, and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What resonates — and what doesn’t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Where you see the strongest path to market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How we might work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Augusta Search  ·  ausstd.augustasearch.com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